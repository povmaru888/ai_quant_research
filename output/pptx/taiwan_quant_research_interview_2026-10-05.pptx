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73f808d984955" /><Relationship Type="http://schemas.openxmlformats.org/officeDocument/2006/relationships/extended-properties" Target="/docProps/app.xml" Id="Rc6d4eb8c9a824f87" /><Relationship Type="http://schemas.openxmlformats.org/officeDocument/2006/relationships/officeDocument" Target="/ppt/presentation.xml" Id="R9abcd9f517f943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f50faea2543ca"/>
  </p:sldMasterIdLst>
  <p:notesMasterIdLst>
    <p:notesMasterId xmlns:r="http://schemas.openxmlformats.org/officeDocument/2006/relationships" r:id="Rd1b29eb865fa48ae"/>
  </p:notesMasterIdLst>
  <p:sldIdLst>
    <p:sldId xmlns:r="http://schemas.openxmlformats.org/officeDocument/2006/relationships" id="256" r:id="R17e3a745a7c7405f"/>
    <p:sldId xmlns:r="http://schemas.openxmlformats.org/officeDocument/2006/relationships" id="257" r:id="R363bc290cd9c4e7f"/>
    <p:sldId xmlns:r="http://schemas.openxmlformats.org/officeDocument/2006/relationships" id="258" r:id="R9bb73473eb0f4f5e"/>
    <p:sldId xmlns:r="http://schemas.openxmlformats.org/officeDocument/2006/relationships" id="259" r:id="R579865a692f94ad7"/>
    <p:sldId xmlns:r="http://schemas.openxmlformats.org/officeDocument/2006/relationships" id="260" r:id="R80c691873a88445f"/>
    <p:sldId xmlns:r="http://schemas.openxmlformats.org/officeDocument/2006/relationships" id="261" r:id="R015630b6260f4748"/>
    <p:sldId xmlns:r="http://schemas.openxmlformats.org/officeDocument/2006/relationships" id="262" r:id="R2d83a6a5eae6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c8d2ead8bd496e" /><Relationship Type="http://schemas.openxmlformats.org/officeDocument/2006/relationships/slideMaster" Target="/ppt/slideMasters/slideMaster1.xml" Id="Rb17f50faea2543ca" /><Relationship Type="http://schemas.openxmlformats.org/officeDocument/2006/relationships/notesMaster" Target="/ppt/notesMasters/notesMaster1.xml" Id="Rd1b29eb865fa48ae" /><Relationship Type="http://schemas.openxmlformats.org/officeDocument/2006/relationships/presProps" Target="/ppt/presProps.xml" Id="Rbdbf17d4667c4854" /><Relationship Type="http://schemas.openxmlformats.org/officeDocument/2006/relationships/tableStyles" Target="/ppt/tableStyles.xml" Id="R7087e43abfbd423a" /><Relationship Type="http://schemas.openxmlformats.org/officeDocument/2006/relationships/slide" Target="/ppt/slides/slide1.xml" Id="R17e3a745a7c7405f" /><Relationship Type="http://schemas.openxmlformats.org/officeDocument/2006/relationships/slide" Target="/ppt/slides/slide2.xml" Id="R363bc290cd9c4e7f" /><Relationship Type="http://schemas.openxmlformats.org/officeDocument/2006/relationships/slide" Target="/ppt/slides/slide3.xml" Id="R9bb73473eb0f4f5e" /><Relationship Type="http://schemas.openxmlformats.org/officeDocument/2006/relationships/slide" Target="/ppt/slides/slide4.xml" Id="R579865a692f94ad7" /><Relationship Type="http://schemas.openxmlformats.org/officeDocument/2006/relationships/slide" Target="/ppt/slides/slide5.xml" Id="R80c691873a88445f" /><Relationship Type="http://schemas.openxmlformats.org/officeDocument/2006/relationships/slide" Target="/ppt/slides/slide6.xml" Id="R015630b6260f4748" /><Relationship Type="http://schemas.openxmlformats.org/officeDocument/2006/relationships/slide" Target="/ppt/slides/slide7.xml" Id="R2d83a6a5eae6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c1159544540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d3cfb198344c93" /><Relationship Type="http://schemas.openxmlformats.org/officeDocument/2006/relationships/notesMaster" Target="/ppt/notesMasters/notesMaster1.xml" Id="R7bc288b08794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a2b5e7fd804289" /><Relationship Type="http://schemas.openxmlformats.org/officeDocument/2006/relationships/notesMaster" Target="/ppt/notesMasters/notesMaster1.xml" Id="Rca1ea2ccc73e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31e0e877124875" /><Relationship Type="http://schemas.openxmlformats.org/officeDocument/2006/relationships/notesMaster" Target="/ppt/notesMasters/notesMaster1.xml" Id="Rbbc0dc38246745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ccb0cb4e454673" /><Relationship Type="http://schemas.openxmlformats.org/officeDocument/2006/relationships/notesMaster" Target="/ppt/notesMasters/notesMaster1.xml" Id="Rb05bb51ab076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f72805d8e4b43" /><Relationship Type="http://schemas.openxmlformats.org/officeDocument/2006/relationships/notesMaster" Target="/ppt/notesMasters/notesMaster1.xml" Id="R8747fec039c9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03884b2e6947a1" /><Relationship Type="http://schemas.openxmlformats.org/officeDocument/2006/relationships/notesMaster" Target="/ppt/notesMasters/notesMaster1.xml" Id="R1578c7601fe047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c1c16317884fb5" /><Relationship Type="http://schemas.openxmlformats.org/officeDocument/2006/relationships/notesMaster" Target="/ppt/notesMasters/notesMaster1.xml" Id="Rf1219f3b7e70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本簡報從 145 頁全 run 儀表板資料中挑選 factor_v4、無 refit、Top15/Top30 的可比 OOS 實驗。48 是 PDF 收錄的全部研究 run 數，不等於獨立樣本數。PDF 封面與頁 2–4。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資料處理的正確性是此研究的一部分：adjusted price 用於報酬及技術因子，當日 PIT 市值避免歷史市值前視。2015–2018/2019/2020 OOS，依年往前移動。詳細配置見專案程式與各模型 report。PDF 頁 2–4 的 run 清單可確認每年四法。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PDF pp. 2–4; run_artifacts.metrics and monthly_ic. Four methods use same factor_v4 panel and portfolio Top15/Top30; objective and hyperparameter selection differ. Logistic uses fixed C=1, other methods have yearly tuning. Mean annual CAGR is the arithmetic mean of five annualized run CAGRs, not a linked portfolio CAGR. Exact figures: binary 7.350%, 0.7846, -0.06347, 5.7085; logistic 5.048%, 0.4840, -0.06366, 6.2145; rank 5.081%, 0.4911, -0.06939, 7.6896; huber 12.706%, 0.9213, +0.03420, 10.0904.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PDF pp. 2–4, columns CAGR and TAIEX CAGR. Huber 2020 13.02, 2021 12.99, 2022 -3.15, 2023 15.81, 2024 24.86; binary 0.65, 15.70, 1.31, 12.58, 6.51; TAIEX 33.77, 14.97, -15.00, 16.07, 31.85. Relative resilience in 2022 is a factual comparison, not proof of downside protection across regimes. The strategy did not beat TAIEX in 2020, 2021, 2023, or 2024.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monthly_ic.summary for the five factor_v4 Huber and binary no-refit runs (PDF pp. 2–4 and corresponding detail pages). Huber mean ic_positive_month_ratio 0.65, mean top15_excess_positive_month_ratio 0.65, mean_top15_excess_return 0.01304. Binary 0.36667, 0.48333, 0.00683. Each yearly run has 12 monthly observations, total 60. 39, 22, 29 are sums implied by those ratios and were cross-checked with summary. This is not portfolio P&amp;L.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PDF pp. 2–4, factor_v4 pseudohuber smooth04/06/08 runs. Metrics read from run_artifacts.metrics. Alpha 1: CAGR 12.706%, Sharpe .9213, turnover 10.090; 0.8: 6.873%, .5651, 9.4197; 0.6: 9.019%, .7302, 9.0410; 0.4: 7.433%, .6145, 8.8336. Reduction for alpha .6 = (10.09044-9.0410)/10.09044 = 10.4%. Separate 2020 buffer test: top30 13.02% CAGR/10.75 turnover, top60 10.61%/10.04. Do not generalize one-year buffer test to all periods.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completed results from proposed research. Completed data integrity and model tests are documented by project code and the 145-page dashboard export. The next-step items are hypotheses, not validated improvements. Repository: https://github.com/povmaru888/AI_Quant_Research.</a:t>
            </a:r>
          </a:p>
          <a:p xmlns:a="http://schemas.openxmlformats.org/drawingml/2006/main">
            <a:r>
              <a:t>Source: D:\多因子量化交易(GPT)\output\pdf\notebooklm_all_runs_dashboard.pdf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8cb8def3a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3c4a4b91840eb" /><Relationship Type="http://schemas.openxmlformats.org/officeDocument/2006/relationships/slideLayout" Target="/ppt/slideLayouts/slideLayout1.xml" Id="R4f19cc21c782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19cc21c782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4a7ee699c442c" /><Relationship Type="http://schemas.openxmlformats.org/officeDocument/2006/relationships/image" Target="/ppt/media/image.png" Id="R3a10a91565204de3" /><Relationship Type="http://schemas.openxmlformats.org/officeDocument/2006/relationships/notesSlide" Target="/ppt/notesSlides/notesSlide1.xml" Id="Rccee5bf5548e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63c2797248db" /><Relationship Type="http://schemas.openxmlformats.org/officeDocument/2006/relationships/notesSlide" Target="/ppt/notesSlides/notesSlide2.xml" Id="R865f880e9fa444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4369e412e4e42" /><Relationship Type="http://schemas.openxmlformats.org/officeDocument/2006/relationships/notesSlide" Target="/ppt/notesSlides/notesSlide3.xml" Id="Rc381b43939c545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c643caa9646ea" /><Relationship Type="http://schemas.openxmlformats.org/officeDocument/2006/relationships/chart" Target="/ppt/slides/charts/chart1.xml" Id="R1927c6649eb64ac6" /><Relationship Type="http://schemas.openxmlformats.org/officeDocument/2006/relationships/notesSlide" Target="/ppt/notesSlides/notesSlide4.xml" Id="Rad9fe2ec2fab4f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210de25f4aa1" /><Relationship Type="http://schemas.openxmlformats.org/officeDocument/2006/relationships/notesSlide" Target="/ppt/notesSlides/notesSlide5.xml" Id="Rc4c8d18cd1544d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ab9ba0fc4060" /><Relationship Type="http://schemas.openxmlformats.org/officeDocument/2006/relationships/notesSlide" Target="/ppt/notesSlides/notesSlide6.xml" Id="R66114defacb646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c1147d884e75" /><Relationship Type="http://schemas.openxmlformats.org/officeDocument/2006/relationships/notesSlide" Target="/ppt/notesSlides/notesSlide7.xml" Id="R653b6365f8dc41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Huber</c:v>
          </c:tx>
          <c:spPr>
            <a:solidFill xmlns:a="http://schemas.openxmlformats.org/drawingml/2006/main">
              <a:srgbClr val="38D6CB"/>
            </a:solidFill>
          </c:spPr>
          <c:invertIfNegative val="0"/>
          <c:cat>
            <c:numLit>
              <c:formatCode>General</c:formatCode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numLit>
          </c:cat>
          <c:val>
            <c:numLit>
              <c:formatCode>0.0%</c:formatCode>
              <c:ptCount val="5"/>
              <c:pt idx="0">
                <c:v>0.1302</c:v>
              </c:pt>
              <c:pt idx="1">
                <c:v>0.12986</c:v>
              </c:pt>
              <c:pt idx="2">
                <c:v>-0.03146</c:v>
              </c:pt>
              <c:pt idx="3">
                <c:v>0.1581</c:v>
              </c:pt>
              <c:pt idx="4">
                <c:v>0.24861</c:v>
              </c:pt>
            </c:numLit>
          </c:val>
        </c:ser>
        <c:ser>
          <c:idx val="1"/>
          <c:order val="1"/>
          <c:tx>
            <c:v>Binary</c:v>
          </c:tx>
          <c:spPr>
            <a:solidFill xmlns:a="http://schemas.openxmlformats.org/drawingml/2006/main">
              <a:srgbClr val="5AB8E6"/>
            </a:solidFill>
          </c:spPr>
          <c:cat>
            <c:numLit>
              <c:formatCode>General</c:formatCode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numLit>
          </c:cat>
          <c:val>
            <c:numLit>
              <c:formatCode>0.0%</c:formatCode>
              <c:ptCount val="5"/>
              <c:pt idx="0">
                <c:v>0.00653</c:v>
              </c:pt>
              <c:pt idx="1">
                <c:v>0.15699</c:v>
              </c:pt>
              <c:pt idx="2">
                <c:v>0.01305</c:v>
              </c:pt>
              <c:pt idx="3">
                <c:v>0.12583</c:v>
              </c:pt>
              <c:pt idx="4">
                <c:v>0.06513</c:v>
              </c:pt>
            </c:numLit>
          </c:val>
        </c:ser>
        <c:ser>
          <c:idx val="2"/>
          <c:order val="2"/>
          <c:tx>
            <c:v>TAIEX</c:v>
          </c:tx>
          <c:spPr>
            <a:solidFill xmlns:a="http://schemas.openxmlformats.org/drawingml/2006/main">
              <a:srgbClr val="7E91A3"/>
            </a:solidFill>
          </c:spPr>
          <c:invertIfNegative val="0"/>
          <c:cat>
            <c:numLit>
              <c:formatCode>General</c:formatCode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numLit>
          </c:cat>
          <c:val>
            <c:numLit>
              <c:formatCode>0.0%</c:formatCode>
              <c:ptCount val="5"/>
              <c:pt idx="0">
                <c:v>0.3377</c:v>
              </c:pt>
              <c:pt idx="1">
                <c:v>0.1497</c:v>
              </c:pt>
              <c:pt idx="2">
                <c:v>-0.15</c:v>
              </c:pt>
              <c:pt idx="3">
                <c:v>0.1607</c:v>
              </c:pt>
              <c:pt idx="4">
                <c:v>0.3185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5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0.2"/>
        </c:scaling>
        <c:delete val="0"/>
        <c:axPos val="l"/>
        <c:majorGridlines>
          <c:spPr>
            <a:ln xmlns:a="http://schemas.openxmlformats.org/drawingml/2006/main" w="7620">
              <a:solidFill>
                <a:srgbClr val="29405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8111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F4F8FB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08111E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0a91565204d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8F76D-DA16-4FE2-95DE-0D91391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台股多因子選股研究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01CD6-02A7-4B03-BD95-274737B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從資料正確性到樣本外績效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F76F2-D7F8-44B1-B159-1D97431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量化投資分析師應徵作品集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BE3B-C5BE-48F3-B2DA-0258C60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factor v4  ·  2020–2024 OOS  ·  48 個研究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39E66-06DE-485C-963C-A086B48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研究資料截至 2026 年 10 月 5 日</a:t>
            </a:r>
          </a:p>
        </p:txBody>
      </p:sp>
    </p:spTree>
    <p:extLst>
      <p:ext uri="{BB962C8B-B14F-4D97-AF65-F5344CB8AC3E}">
        <p14:creationId xmlns:p14="http://schemas.microsoft.com/office/powerpoint/2010/main" val="984318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4FAF2-3432-4282-8A1D-2361AE6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研究設計：相同投組規則，檢驗不同預測目標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0792B-9D9E-4BB7-BDD6-BA46A20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52D1-8905-450A-AA45-2C91528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資料與時間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6BE49-B90B-4C2B-B82A-F8522C1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30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factor v4 使用還原價格與當日 PIT 市值。先排除資料不足及上市未滿 252 個交易日的股票。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EA7D-F524-4F32-BE42-4C075DA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訓練與驗證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B5543-B297-4029-BF1A-F8516675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2020–2024 各年獨立 OOS；每次以前四年訓練、前一年驗證，設定 purge，驗證後不 refit。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DB620-FEEA-411C-B9A6-CB3C9305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實際投組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E65A4-C94A-4DE6-AD60-4D141E7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每月依模型分數買進 Top15，跌出 Top30 才賣出。四法沿用相同風控與交易成本。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B9FEE-0F56-4C02-8344-D7F12386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62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比較對象：XGBoost binary、pairwise rank、pseudo-Huber；另設 Logistic Regression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8B6B5-3F9A-48C9-B6AA-3E69C7A0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來源：研究資料 PDF 頁 2–4；專案 factor v4 與 OOS run 設定。</a:t>
            </a:r>
          </a:p>
        </p:txBody>
      </p:sp>
    </p:spTree>
    <p:extLst>
      <p:ext uri="{BB962C8B-B14F-4D97-AF65-F5344CB8AC3E}">
        <p14:creationId xmlns:p14="http://schemas.microsoft.com/office/powerpoint/2010/main" val="883855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BFB09-75EE-4670-85EB-75F71CCE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五個 OOS 年度：Huber 改善排序與績效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025CC-2324-48C3-B2C4-BB2A747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2CA5E-8D0C-4E82-A61B-2C39C98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factor v4、無 refit、Top15／Top30；數值為 2020–2024 五個年度 run 的平均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771650"/>
          <a:ext xmlns:a="http://schemas.openxmlformats.org/drawingml/2006/main" cx="1076325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1971675"/>
                <a:gridCol w="1962150"/>
                <a:gridCol w="2076450"/>
                <a:gridCol w="1990725"/>
              </a:tblGrid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CAGR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Sharpe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Rank IC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平均換手／年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 binary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7.35%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0.78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−0.063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5.71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baseline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5.05%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0.48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−0.064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6.21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 pairwise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5.08%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−0.069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7.69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 pseudo-Huber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12.71%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0.92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+0.034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10.09 倍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854C-CBA6-4C74-8906-DE18EF0E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Huber 相對 binary：平均 CAGR +5.36 個百分點；換手增加 4.38 倍／年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8E866-C13C-4903-83B6-48D84AC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註：CAGR 與 Sharpe 為五個年度指標的算術平均；各年度已包含回測交易成本。</a:t>
            </a:r>
          </a:p>
        </p:txBody>
      </p:sp>
    </p:spTree>
    <p:extLst>
      <p:ext uri="{BB962C8B-B14F-4D97-AF65-F5344CB8AC3E}">
        <p14:creationId xmlns:p14="http://schemas.microsoft.com/office/powerpoint/2010/main" val="973472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86C3-D9F3-424D-8F7D-AE7EE16C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逐年結果：2022 相對抗跌，2024 未跑贏大盤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EF01-9ECB-47EA-A17E-61CEEB06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FD582-5F5B-4465-A694-786B913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年化 CAGR；每個 OOS 年度含次年一月最後一筆持倉的估值期間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04850" y="1590675"/>
          <a:ext xmlns:a="http://schemas.openxmlformats.org/drawingml/2006/main" cx="10810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27c6649eb64a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2C8F-3201-4D5E-928A-1EFF0B5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2022：Huber −3.15%，TAIEX −15.00%     2024：Huber +24.86%，TAIEX +31.85%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97D95-096B-438E-B3E5-5901415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來源：研究資料 PDF 頁 2–4；圖中的 TAIEX 與策略使用相同 OOS 區間。</a:t>
            </a:r>
          </a:p>
        </p:txBody>
      </p:sp>
    </p:spTree>
    <p:extLst>
      <p:ext uri="{BB962C8B-B14F-4D97-AF65-F5344CB8AC3E}">
        <p14:creationId xmlns:p14="http://schemas.microsoft.com/office/powerpoint/2010/main" val="1022980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7B940-1659-4D21-AC84-220C5C3C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選股能力：Huber 的正向月份增加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9428D-5EF5-4322-A9D6-88DBE657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EBB55-74FF-4D1A-B847-848D382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同一批 60 個月的模型訊號，以未來 20 個交易日還原收盤價檢驗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47829-8473-424F-ADE5-8F32D5BA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39 / 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E9578-FB47-453E-8ACD-8E563FD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Huber 的連續 Rank IC 為正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6275D-C066-43C4-A366-3C351DC0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binary：22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E5740-749D-4056-BAFB-21B2C26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3357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39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A1B4A-4BBD-4D58-BB62-C910CE6B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Huber 的 Top15 超額報酬為正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A1BA6-588E-464D-B4E0-8EF0706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binary：29 /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72811-76BA-4B20-A66A-00BEB77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平均 Top15 超額報酬：Huber +1.30%／月，binary +0.68%／月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D719D-622F-49C5-BCC2-35E239FE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這裡量測模型選股能力；實際投組另受緩衝、風控與交易成本影響。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3E043-0414-42F1-B0C1-35E2A93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來源：研究資料 PDF 頁 2–4 與各 run 的模型選股摘要。</a:t>
            </a:r>
          </a:p>
        </p:txBody>
      </p:sp>
    </p:spTree>
    <p:extLst>
      <p:ext uri="{BB962C8B-B14F-4D97-AF65-F5344CB8AC3E}">
        <p14:creationId xmlns:p14="http://schemas.microsoft.com/office/powerpoint/2010/main" val="1373745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26616-784A-4B16-BF73-C10F59FD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降換手實驗：平滑分數未提升五年平均績效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D4A86-EDC1-423D-96A4-41D8B378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4F00B-9B44-41EB-807A-CA0E835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同一 Huber 模型與 panels；只改月間分數平滑 α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1076325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714625"/>
                <a:gridCol w="2714625"/>
                <a:gridCol w="2952750"/>
              </a:tblGrid>
              <a:tr h="6000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α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CAGR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Sharpe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BDC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平均換手／年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1.0（原始）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12.71%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0.92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8D6C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10.09 倍</a:t>
                      </a:r>
                    </a:p>
                  </a:txBody>
                  <a:tcPr marL="91440" marR="91440" marT="45720" marB="45720">
                    <a:solidFill>
                      <a:srgbClr val="10313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6.87%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0.57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9.42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9.02%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0.73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9.04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7.43%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0.61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4F8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8.83 倍</a:t>
                      </a:r>
                    </a:p>
                  </a:txBody>
                  <a:tcPr marL="91440" marR="91440" marT="45720" marB="45720">
                    <a:solidFill>
                      <a:srgbClr val="08111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8850A-C1C0-43B6-BE29-BB4A67E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B8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8B860"/>
                </a:solidFill>
                <a:latin typeface="Microsoft JhengHei"/>
                <a:ea typeface="Microsoft JhengHei"/>
                <a:cs typeface="Microsoft JhengHei"/>
              </a:rPr>
              <a:t>α=0.6 少換手約 10%，平均 CAGR 也從 12.71% 降至 9.02%。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D8CF1-0BA1-4316-B56B-FBC7E98E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註：五個 OOS 年度的年度指標算術平均；2020 年 Top60 緩衝也降低換手但使 CAGR 下降。</a:t>
            </a:r>
          </a:p>
        </p:txBody>
      </p:sp>
    </p:spTree>
    <p:extLst>
      <p:ext uri="{BB962C8B-B14F-4D97-AF65-F5344CB8AC3E}">
        <p14:creationId xmlns:p14="http://schemas.microsoft.com/office/powerpoint/2010/main" val="789418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F380C-E1E8-4C23-826A-179EF24A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研究判斷與下一步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F0934-7DB7-4D65-B1A3-C4092A10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8794F-FC2E-482E-8B9F-3FFEA994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8D6CB"/>
                </a:solidFill>
                <a:latin typeface="Microsoft JhengHei"/>
                <a:ea typeface="Microsoft JhengHei"/>
                <a:cs typeface="Microsoft JhengHei"/>
              </a:rPr>
              <a:t>已有可驗證的成果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AC256-5727-4B3C-8E68-4AD0F4AC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建立 PIT 與還原價格資料管線，避免歷史資料失真。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97E98-F009-400A-BCD5-271CD08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用相同 OOS 切分比較四種模型，留下逐月選股與投組證據。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33E33-477C-4DBD-A52D-8F36C2EC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記錄平滑與緩衝的失敗實驗，避免只展示最佳年份。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A1B6F-F524-48F9-8705-1FD9867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AB8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AB8E6"/>
                </a:solidFill>
                <a:latin typeface="Microsoft JhengHei"/>
                <a:ea typeface="Microsoft JhengHei"/>
                <a:cs typeface="Microsoft JhengHei"/>
              </a:rPr>
              <a:t>下一步研究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15F89-A9D9-4DA1-B180-F5B7BE1C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將換手成本直接納入訓練或投組目標，評估淨報酬。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F731-78E5-4E69-9C8A-156A849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測試市值與產業中性化，並做容量與成交衝擊分析。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49347-A4D6-49D1-94FA-EE94E31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4F8FB"/>
                </a:solidFill>
                <a:latin typeface="Microsoft JhengHei"/>
                <a:ea typeface="Microsoft JhengHei"/>
                <a:cs typeface="Microsoft JhengHei"/>
              </a:rPr>
              <a:t>延長與更新 OOS，確認排名改善能否穩定轉成超額報酬。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7EE01-48A3-49F0-ACD2-BBD7904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DCA"/>
                </a:solidFill>
                <a:latin typeface="Microsoft JhengHei"/>
                <a:ea typeface="Microsoft JhengHei"/>
                <a:cs typeface="Microsoft JhengHei"/>
              </a:rPr>
              <a:t>完整專案與可重現 run：github.com/povmaru888/AI_Quant_Research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9D6E6-1AE4-4E45-A36B-EFC12E3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890A3"/>
                </a:solidFill>
                <a:latin typeface="Microsoft JhengHei"/>
                <a:ea typeface="Microsoft JhengHei"/>
                <a:cs typeface="Microsoft JhengHei"/>
              </a:rPr>
              <a:t>研究結論：Huber 提升選股排序，但高換手與多數年度落後 TAIEX 仍需解決。</a:t>
            </a:r>
          </a:p>
        </p:txBody>
      </p:sp>
    </p:spTree>
    <p:extLst>
      <p:ext uri="{BB962C8B-B14F-4D97-AF65-F5344CB8AC3E}">
        <p14:creationId xmlns:p14="http://schemas.microsoft.com/office/powerpoint/2010/main" val="878181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2026-10-05T08:37:29.1740000Z</dcterms:created>
  <dcterms:modified xsi:type="dcterms:W3CDTF">2026-10-05T08:37:29.1740000Z</dcterms:modified>
</coreProperties>
</file>